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2"/>
      <p:bold r:id="rId13"/>
    </p:embeddedFont>
    <p:embeddedFont>
      <p:font typeface="Source Code Pr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bold.fntdata"/><Relationship Id="rId12" Type="http://schemas.openxmlformats.org/officeDocument/2006/relationships/font" Target="fonts/AmaticS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.fntdata"/><Relationship Id="rId14" Type="http://schemas.openxmlformats.org/officeDocument/2006/relationships/font" Target="fonts/SourceCodePro-regular.fntdata"/><Relationship Id="rId17" Type="http://schemas.openxmlformats.org/officeDocument/2006/relationships/font" Target="fonts/SourceCodePro-boldItalic.fntdata"/><Relationship Id="rId16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80e153f0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80e153f0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13a6884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b13a6884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13a6884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13a6884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13a6884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13a6884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6f4f617f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6f4f617f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lab.research.google.com/github/jinglescode/python-signal-processing/blob/master/tutorials/Fourier%20Transform.ipynb#scrollTo=7j2mb2Mimn06" TargetMode="External"/><Relationship Id="rId4" Type="http://schemas.openxmlformats.org/officeDocument/2006/relationships/hyperlink" Target="https://towardsdatascience.com/audio-deep-learning-made-simple-part-2-why-mel-spectrograms-perform-better-aad889a93505" TargetMode="External"/><Relationship Id="rId5" Type="http://schemas.openxmlformats.org/officeDocument/2006/relationships/hyperlink" Target="https://colab.research.google.com/github/sanchit-gandhi/notebooks/blob/main/fine_tune_whisper.ipynb#scrollTo=BRdrdFIeU78w" TargetMode="External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579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Fine-tuning whisper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speech transcription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Trelis Research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4294967295" type="title"/>
          </p:nvPr>
        </p:nvSpPr>
        <p:spPr>
          <a:xfrm>
            <a:off x="546975" y="113300"/>
            <a:ext cx="78795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F579B"/>
                </a:solidFill>
              </a:rPr>
              <a:t>overview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Whisper demo!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Uses cases for fine-tuning a transcription model!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How transcription works!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Preparing to fine-tune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Repo overview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Notebook demo!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Pro tips!</a:t>
            </a:r>
            <a:endParaRPr sz="2900">
              <a:solidFill>
                <a:srgbClr val="0F579B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450" y="4264950"/>
            <a:ext cx="878550" cy="8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title"/>
          </p:nvPr>
        </p:nvSpPr>
        <p:spPr>
          <a:xfrm>
            <a:off x="546975" y="113300"/>
            <a:ext cx="78795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F579B"/>
                </a:solidFill>
              </a:rPr>
              <a:t>Fine-tuning USE CASES</a:t>
            </a:r>
            <a:endParaRPr sz="2900">
              <a:solidFill>
                <a:srgbClr val="0F579B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Add new vocabulary (new </a:t>
            </a:r>
            <a:r>
              <a:rPr lang="en" sz="2900">
                <a:solidFill>
                  <a:srgbClr val="0F579B"/>
                </a:solidFill>
              </a:rPr>
              <a:t>words, phrases)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Improve performance on accents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Improve performance on uncommon languages</a:t>
            </a:r>
            <a:endParaRPr sz="2900">
              <a:solidFill>
                <a:srgbClr val="0F579B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450" y="4264950"/>
            <a:ext cx="878550" cy="8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4294967295" type="title"/>
          </p:nvPr>
        </p:nvSpPr>
        <p:spPr>
          <a:xfrm>
            <a:off x="546975" y="113300"/>
            <a:ext cx="78795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F579B"/>
                </a:solidFill>
              </a:rPr>
              <a:t>How transcription works!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Sound is a vibration - measure that vibration!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 u="sng">
                <a:solidFill>
                  <a:schemeClr val="hlink"/>
                </a:solidFill>
                <a:hlinkClick r:id="rId3"/>
              </a:rPr>
              <a:t>Convert the vibration into frequencies</a:t>
            </a:r>
            <a:r>
              <a:rPr lang="en" sz="2900">
                <a:solidFill>
                  <a:srgbClr val="0F579B"/>
                </a:solidFill>
              </a:rPr>
              <a:t> (</a:t>
            </a:r>
            <a:r>
              <a:rPr lang="en" sz="2900" u="sng">
                <a:solidFill>
                  <a:schemeClr val="hlink"/>
                </a:solidFill>
                <a:hlinkClick r:id="rId4"/>
              </a:rPr>
              <a:t>That Humans hear</a:t>
            </a:r>
            <a:r>
              <a:rPr lang="en" sz="2900">
                <a:solidFill>
                  <a:srgbClr val="0F579B"/>
                </a:solidFill>
              </a:rPr>
              <a:t>)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 u="sng">
                <a:solidFill>
                  <a:schemeClr val="hlink"/>
                </a:solidFill>
                <a:hlinkClick r:id="rId5"/>
              </a:rPr>
              <a:t>Input those frequencies as info to a language model (“Features”)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rabicPeriod"/>
            </a:pPr>
            <a:r>
              <a:rPr lang="en" sz="2900">
                <a:solidFill>
                  <a:srgbClr val="0F579B"/>
                </a:solidFill>
              </a:rPr>
              <a:t>Generate tokens (sub-words)</a:t>
            </a:r>
            <a:endParaRPr sz="2900">
              <a:solidFill>
                <a:srgbClr val="0F579B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65450" y="4264950"/>
            <a:ext cx="878550" cy="8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4294967295" type="title"/>
          </p:nvPr>
        </p:nvSpPr>
        <p:spPr>
          <a:xfrm>
            <a:off x="546975" y="113300"/>
            <a:ext cx="78795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F579B"/>
                </a:solidFill>
              </a:rPr>
              <a:t>Preparation for fine-tuning</a:t>
            </a:r>
            <a:endParaRPr sz="2900">
              <a:solidFill>
                <a:srgbClr val="0F579B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F579B"/>
                </a:solidFill>
              </a:rPr>
              <a:t>We need :</a:t>
            </a:r>
            <a:endParaRPr sz="2900">
              <a:solidFill>
                <a:srgbClr val="0F579B"/>
              </a:solidFill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lphaLcPeriod"/>
            </a:pPr>
            <a:r>
              <a:rPr lang="en" sz="2900">
                <a:solidFill>
                  <a:srgbClr val="0F579B"/>
                </a:solidFill>
              </a:rPr>
              <a:t>Sound (an mp3 file)</a:t>
            </a:r>
            <a:endParaRPr sz="2900">
              <a:solidFill>
                <a:srgbClr val="0F579B"/>
              </a:solidFill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AutoNum type="alphaLcPeriod"/>
            </a:pPr>
            <a:r>
              <a:rPr lang="en" sz="2900">
                <a:solidFill>
                  <a:srgbClr val="0F579B"/>
                </a:solidFill>
              </a:rPr>
              <a:t>Text (a transcript, in vtt format)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F579B"/>
                </a:solidFill>
              </a:rPr>
              <a:t>We need this for :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579B"/>
              </a:buClr>
              <a:buSzPts val="2900"/>
              <a:buChar char="-"/>
            </a:pPr>
            <a:r>
              <a:rPr lang="en" sz="2900">
                <a:solidFill>
                  <a:srgbClr val="0F579B"/>
                </a:solidFill>
              </a:rPr>
              <a:t>Training data</a:t>
            </a:r>
            <a:endParaRPr sz="2900">
              <a:solidFill>
                <a:srgbClr val="0F579B"/>
              </a:solidFill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579B"/>
              </a:buClr>
              <a:buSzPts val="2900"/>
              <a:buChar char="-"/>
            </a:pPr>
            <a:r>
              <a:rPr lang="en" sz="2900">
                <a:solidFill>
                  <a:srgbClr val="0F579B"/>
                </a:solidFill>
              </a:rPr>
              <a:t>Validation data</a:t>
            </a:r>
            <a:endParaRPr sz="2900">
              <a:solidFill>
                <a:srgbClr val="0F579B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450" y="4264950"/>
            <a:ext cx="878550" cy="8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4294967295" type="title"/>
          </p:nvPr>
        </p:nvSpPr>
        <p:spPr>
          <a:xfrm>
            <a:off x="546975" y="113300"/>
            <a:ext cx="78795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0F579B"/>
                </a:solidFill>
              </a:rPr>
              <a:t>Fine-tuning with lora</a:t>
            </a:r>
            <a:endParaRPr sz="2900">
              <a:solidFill>
                <a:srgbClr val="0F57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F579B"/>
              </a:solidFill>
            </a:endParaRPr>
          </a:p>
          <a:p>
            <a:pPr indent="0" lvl="0" marL="914400" marR="0" rtl="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solidFill>
                <a:srgbClr val="0F579B"/>
              </a:solidFill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450" y="4264950"/>
            <a:ext cx="878550" cy="87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969850" y="1584400"/>
            <a:ext cx="2756400" cy="268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848050" y="43347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1024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-974550" y="25552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1024</a:t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4844900" y="3829350"/>
            <a:ext cx="2756400" cy="43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4844900" y="1584400"/>
            <a:ext cx="2756400" cy="43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723100" y="43347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1024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6367400" y="36777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8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6367400" y="14327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8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4723100" y="25552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3600">
                <a:solidFill>
                  <a:srgbClr val="0F579B"/>
                </a:solidFill>
                <a:latin typeface="Amatic SC"/>
                <a:ea typeface="Amatic SC"/>
                <a:cs typeface="Amatic SC"/>
                <a:sym typeface="Amatic SC"/>
              </a:rPr>
              <a:t>1024 x 8 = 8192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